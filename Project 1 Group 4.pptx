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1" r:id="rId1"/>
  </p:sldMasterIdLst>
  <p:sldIdLst>
    <p:sldId id="256" r:id="rId2"/>
    <p:sldId id="266" r:id="rId3"/>
    <p:sldId id="279" r:id="rId4"/>
    <p:sldId id="259" r:id="rId5"/>
    <p:sldId id="257" r:id="rId6"/>
    <p:sldId id="258" r:id="rId7"/>
    <p:sldId id="269" r:id="rId8"/>
    <p:sldId id="267" r:id="rId9"/>
    <p:sldId id="271" r:id="rId10"/>
    <p:sldId id="273" r:id="rId11"/>
    <p:sldId id="274" r:id="rId12"/>
    <p:sldId id="276" r:id="rId13"/>
    <p:sldId id="278" r:id="rId14"/>
    <p:sldId id="27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46F8BC-C1F9-76B2-D3E3-A76EFD6EC055}" v="1625" dt="2021-11-01T01:32:55.780"/>
    <p1510:client id="{636060FF-1605-421D-A61C-69A720715B18}" v="498" dt="2021-10-31T14:09:55.124"/>
    <p1510:client id="{BACFC32C-DAA9-A3D9-CAF5-96E0CB3ABAE2}" v="252" dt="2021-10-31T15:50:57.430"/>
    <p1510:client id="{D3C50140-9C1E-1DDB-7518-D7FA2E7AC98B}" v="29" dt="2021-11-01T03:25:04.776"/>
    <p1510:client id="{D7E8F247-75F2-1EA7-ECA5-48C9A51D214A}" v="261" dt="2021-10-31T21:05:20.823"/>
    <p1510:client id="{DF3395B0-0298-081B-92AA-0755E1B1B5CD}" v="51" dt="2021-11-01T00:14:30.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11/1/2021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13013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4509A250-FF31-4206-8172-F9D3106AACB1}" type="datetimeFigureOut">
              <a:rPr lang="en-US" dirty="0"/>
              <a:t>11/1/2021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92614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69125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6027F-7875-4030-9381-8BD8C4F21935}" type="datetimeFigureOut">
              <a:rPr lang="en-US" dirty="0"/>
              <a:t>11/1/2021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74490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6027F-7875-4030-9381-8BD8C4F21935}" type="datetimeFigureOut">
              <a:rPr lang="en-US" dirty="0"/>
              <a:t>11/1/2021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85710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11/1/2021</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89272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11/1/2021</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908143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11/1/2021</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805827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529399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75376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07562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199637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7816903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11/1/2021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8543464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11/1/2021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7220737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8855355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534987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11/1/2021</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1705676327"/>
      </p:ext>
    </p:extLst>
  </p:cSld>
  <p:clrMap bg1="dk1" tx1="lt1" bg2="dk2" tx2="lt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 id="2147483934" r:id="rId13"/>
    <p:sldLayoutId id="2147483935" r:id="rId14"/>
    <p:sldLayoutId id="2147483936" r:id="rId15"/>
    <p:sldLayoutId id="2147483937" r:id="rId16"/>
    <p:sldLayoutId id="2147483938"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side view of an abstract white and grey weave in sphere form side view">
            <a:extLst>
              <a:ext uri="{FF2B5EF4-FFF2-40B4-BE49-F238E27FC236}">
                <a16:creationId xmlns:a16="http://schemas.microsoft.com/office/drawing/2014/main" id="{718BE910-A8E8-46CE-8CD7-0CDFB3720531}"/>
              </a:ext>
            </a:extLst>
          </p:cNvPr>
          <p:cNvPicPr>
            <a:picLocks noChangeAspect="1"/>
          </p:cNvPicPr>
          <p:nvPr/>
        </p:nvPicPr>
        <p:blipFill rotWithShape="1">
          <a:blip r:embed="rId2">
            <a:alphaModFix amt="35000"/>
          </a:blip>
          <a:srcRect t="14917" b="3561"/>
          <a:stretch/>
        </p:blipFill>
        <p:spPr>
          <a:xfrm>
            <a:off x="-2851" y="-39917"/>
            <a:ext cx="12191979" cy="6857989"/>
          </a:xfrm>
          <a:prstGeom prst="rect">
            <a:avLst/>
          </a:prstGeom>
        </p:spPr>
      </p:pic>
      <p:sp>
        <p:nvSpPr>
          <p:cNvPr id="2" name="Title 1"/>
          <p:cNvSpPr>
            <a:spLocks noGrp="1"/>
          </p:cNvSpPr>
          <p:nvPr>
            <p:ph type="ctrTitle"/>
          </p:nvPr>
        </p:nvSpPr>
        <p:spPr>
          <a:xfrm>
            <a:off x="1069847" y="758952"/>
            <a:ext cx="9055227" cy="3794760"/>
          </a:xfrm>
        </p:spPr>
        <p:txBody>
          <a:bodyPr>
            <a:normAutofit fontScale="90000"/>
          </a:bodyPr>
          <a:lstStyle/>
          <a:p>
            <a:r>
              <a:rPr lang="en-US" sz="8800" dirty="0">
                <a:ln w="15875">
                  <a:solidFill>
                    <a:srgbClr val="FFFFFF"/>
                  </a:solidFill>
                </a:ln>
                <a:noFill/>
              </a:rPr>
              <a:t>H1B Visa Application Analysis</a:t>
            </a:r>
          </a:p>
        </p:txBody>
      </p:sp>
      <p:sp>
        <p:nvSpPr>
          <p:cNvPr id="3" name="Subtitle 2"/>
          <p:cNvSpPr>
            <a:spLocks noGrp="1"/>
          </p:cNvSpPr>
          <p:nvPr>
            <p:ph type="subTitle" idx="1"/>
          </p:nvPr>
        </p:nvSpPr>
        <p:spPr>
          <a:xfrm>
            <a:off x="1100015" y="4670246"/>
            <a:ext cx="7315200" cy="1419658"/>
          </a:xfrm>
        </p:spPr>
        <p:txBody>
          <a:bodyPr vert="horz" lIns="91440" tIns="45720" rIns="91440" bIns="45720" rtlCol="0">
            <a:normAutofit lnSpcReduction="10000"/>
          </a:bodyPr>
          <a:lstStyle/>
          <a:p>
            <a:r>
              <a:rPr lang="en-US" sz="2800" dirty="0">
                <a:solidFill>
                  <a:schemeClr val="tx1"/>
                </a:solidFill>
              </a:rPr>
              <a:t>Project – 1</a:t>
            </a:r>
          </a:p>
          <a:p>
            <a:r>
              <a:rPr lang="en-US" sz="2800" dirty="0">
                <a:solidFill>
                  <a:schemeClr val="tx1"/>
                </a:solidFill>
              </a:rPr>
              <a:t>Manasvi Mittal, </a:t>
            </a:r>
            <a:r>
              <a:rPr lang="en-US" sz="2800" dirty="0" err="1">
                <a:solidFill>
                  <a:schemeClr val="tx1"/>
                </a:solidFill>
              </a:rPr>
              <a:t>Shrishail</a:t>
            </a:r>
            <a:r>
              <a:rPr lang="en-US" sz="2800" dirty="0">
                <a:solidFill>
                  <a:schemeClr val="tx1"/>
                </a:solidFill>
              </a:rPr>
              <a:t> Kandi, Vikram Bhardwaj, Syed Hussain</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useBgFill="1">
        <p:nvSpPr>
          <p:cNvPr id="35" name="Rectangle 7">
            <a:extLst>
              <a:ext uri="{FF2B5EF4-FFF2-40B4-BE49-F238E27FC236}">
                <a16:creationId xmlns:a16="http://schemas.microsoft.com/office/drawing/2014/main" id="{0D9B8FD4-CDEB-4EB4-B4DE-C89E11938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6" name="Freeform 36">
            <a:extLst>
              <a:ext uri="{FF2B5EF4-FFF2-40B4-BE49-F238E27FC236}">
                <a16:creationId xmlns:a16="http://schemas.microsoft.com/office/drawing/2014/main" id="{5A2E3D1D-9E9F-4739-BA14-D4D7FA9FB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7" name="Freeform: Shape 11">
            <a:extLst>
              <a:ext uri="{FF2B5EF4-FFF2-40B4-BE49-F238E27FC236}">
                <a16:creationId xmlns:a16="http://schemas.microsoft.com/office/drawing/2014/main" id="{1FFB365B-E9DC-4859-B8AB-CB83EEBE4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13">
            <a:extLst>
              <a:ext uri="{FF2B5EF4-FFF2-40B4-BE49-F238E27FC236}">
                <a16:creationId xmlns:a16="http://schemas.microsoft.com/office/drawing/2014/main" id="{8ADAB9C8-EB37-4914-A699-C716FC8FE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E15404C-EDA4-49DB-96EE-E59D58A19CC5}"/>
              </a:ext>
            </a:extLst>
          </p:cNvPr>
          <p:cNvSpPr>
            <a:spLocks noGrp="1"/>
          </p:cNvSpPr>
          <p:nvPr>
            <p:ph type="title"/>
          </p:nvPr>
        </p:nvSpPr>
        <p:spPr>
          <a:xfrm>
            <a:off x="653143" y="1645920"/>
            <a:ext cx="3522879" cy="4470821"/>
          </a:xfrm>
        </p:spPr>
        <p:txBody>
          <a:bodyPr>
            <a:normAutofit/>
          </a:bodyPr>
          <a:lstStyle/>
          <a:p>
            <a:pPr algn="r"/>
            <a:r>
              <a:rPr lang="en-US" dirty="0">
                <a:solidFill>
                  <a:schemeClr val="bg2"/>
                </a:solidFill>
              </a:rPr>
              <a:t>About H1B</a:t>
            </a:r>
          </a:p>
        </p:txBody>
      </p:sp>
      <p:sp>
        <p:nvSpPr>
          <p:cNvPr id="3" name="Content Placeholder 2">
            <a:extLst>
              <a:ext uri="{FF2B5EF4-FFF2-40B4-BE49-F238E27FC236}">
                <a16:creationId xmlns:a16="http://schemas.microsoft.com/office/drawing/2014/main" id="{AEAFFC8D-510C-4596-8B03-252EF16C3D88}"/>
              </a:ext>
            </a:extLst>
          </p:cNvPr>
          <p:cNvSpPr>
            <a:spLocks noGrp="1"/>
          </p:cNvSpPr>
          <p:nvPr>
            <p:ph idx="1"/>
          </p:nvPr>
        </p:nvSpPr>
        <p:spPr>
          <a:xfrm>
            <a:off x="5204109" y="1645920"/>
            <a:ext cx="6801790" cy="4470821"/>
          </a:xfrm>
        </p:spPr>
        <p:txBody>
          <a:bodyPr vert="horz" lIns="91440" tIns="45720" rIns="91440" bIns="45720" rtlCol="0" anchor="t">
            <a:normAutofit/>
          </a:bodyPr>
          <a:lstStyle/>
          <a:p>
            <a:pPr>
              <a:buFont typeface="Wingdings" charset="2"/>
              <a:buChar char="v"/>
            </a:pPr>
            <a:r>
              <a:rPr lang="en-US" dirty="0"/>
              <a:t>H1B is a US visa under the Immigration and Nationality Act that allows U.S employers to temporarily employ foreign workers in specialty occupations.</a:t>
            </a:r>
          </a:p>
          <a:p>
            <a:pPr>
              <a:buClr>
                <a:srgbClr val="8AD0D6"/>
              </a:buClr>
              <a:buFont typeface="Wingdings" charset="2"/>
              <a:buChar char="v"/>
            </a:pPr>
            <a:r>
              <a:rPr lang="en-US" dirty="0"/>
              <a:t>Created in 1952 when the congress passed the Immigration and Nationality Act.</a:t>
            </a:r>
          </a:p>
          <a:p>
            <a:pPr>
              <a:buClr>
                <a:srgbClr val="8AD0D6"/>
              </a:buClr>
              <a:buFont typeface="Wingdings" charset="2"/>
              <a:buChar char="v"/>
            </a:pPr>
            <a:r>
              <a:rPr lang="en-US" dirty="0"/>
              <a:t>The visa was called an H-1 visa because it had been made into law by section 101(15)(H)(1) of the Immigration and Nationality Act.</a:t>
            </a:r>
          </a:p>
          <a:p>
            <a:pPr>
              <a:buClr>
                <a:srgbClr val="8AD0D6"/>
              </a:buClr>
              <a:buFont typeface="Wingdings" charset="2"/>
              <a:buChar char="v"/>
            </a:pPr>
            <a:endParaRPr lang="en-US" dirty="0"/>
          </a:p>
          <a:p>
            <a:pPr>
              <a:buClr>
                <a:srgbClr val="8AD0D6"/>
              </a:buClr>
              <a:buFont typeface="Wingdings" charset="2"/>
              <a:buChar char="v"/>
            </a:pPr>
            <a:endParaRPr lang="en-US" dirty="0"/>
          </a:p>
          <a:p>
            <a:pPr>
              <a:buClr>
                <a:srgbClr val="F7F7F7"/>
              </a:buClr>
              <a:buFont typeface="Wingdings" charset="2"/>
              <a:buChar char="v"/>
            </a:pPr>
            <a:endParaRPr lang="en-US" dirty="0"/>
          </a:p>
          <a:p>
            <a:pPr>
              <a:buClr>
                <a:srgbClr val="F7F7F7"/>
              </a:buClr>
              <a:buFont typeface="Arial" charset="2"/>
              <a:buChar char="•"/>
            </a:pPr>
            <a:endParaRPr lang="en-US" dirty="0"/>
          </a:p>
        </p:txBody>
      </p:sp>
    </p:spTree>
    <p:extLst>
      <p:ext uri="{BB962C8B-B14F-4D97-AF65-F5344CB8AC3E}">
        <p14:creationId xmlns:p14="http://schemas.microsoft.com/office/powerpoint/2010/main" val="3361934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45"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6"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7"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8"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9"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0"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3B28E50-32D6-414E-B5CE-E9E4552C4A5B}"/>
              </a:ext>
            </a:extLst>
          </p:cNvPr>
          <p:cNvSpPr>
            <a:spLocks noGrp="1"/>
          </p:cNvSpPr>
          <p:nvPr>
            <p:ph type="title"/>
          </p:nvPr>
        </p:nvSpPr>
        <p:spPr>
          <a:xfrm>
            <a:off x="1596106" y="2666103"/>
            <a:ext cx="9184606" cy="1179870"/>
          </a:xfrm>
        </p:spPr>
        <p:txBody>
          <a:bodyPr vert="horz" lIns="91440" tIns="45720" rIns="91440" bIns="45720" rtlCol="0" anchor="b">
            <a:noAutofit/>
          </a:bodyPr>
          <a:lstStyle/>
          <a:p>
            <a:r>
              <a:rPr lang="en-US" sz="4400" dirty="0"/>
              <a:t>Data Processing and Cleaning</a:t>
            </a:r>
          </a:p>
        </p:txBody>
      </p:sp>
    </p:spTree>
    <p:extLst>
      <p:ext uri="{BB962C8B-B14F-4D97-AF65-F5344CB8AC3E}">
        <p14:creationId xmlns:p14="http://schemas.microsoft.com/office/powerpoint/2010/main" val="48280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8"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9"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80"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81"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82"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83"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4" name="Rectangle 21">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BD7661-48E7-4D46-9239-AA0F6D07D96D}"/>
              </a:ext>
            </a:extLst>
          </p:cNvPr>
          <p:cNvSpPr>
            <a:spLocks noGrp="1"/>
          </p:cNvSpPr>
          <p:nvPr>
            <p:ph type="title"/>
          </p:nvPr>
        </p:nvSpPr>
        <p:spPr>
          <a:xfrm>
            <a:off x="8077103" y="1273688"/>
            <a:ext cx="3352375" cy="676124"/>
          </a:xfrm>
        </p:spPr>
        <p:txBody>
          <a:bodyPr vert="horz" lIns="91440" tIns="45720" rIns="91440" bIns="45720" rtlCol="0" anchor="b">
            <a:normAutofit/>
          </a:bodyPr>
          <a:lstStyle/>
          <a:p>
            <a:pPr>
              <a:lnSpc>
                <a:spcPct val="90000"/>
              </a:lnSpc>
            </a:pPr>
            <a:r>
              <a:rPr lang="en-US" sz="1800" b="1" i="0" kern="1200">
                <a:solidFill>
                  <a:srgbClr val="EBEBEB"/>
                </a:solidFill>
                <a:latin typeface="+mj-lt"/>
                <a:ea typeface="+mj-ea"/>
                <a:cs typeface="+mj-cs"/>
              </a:rPr>
              <a:t>Employers with highest number of H1B </a:t>
            </a:r>
            <a:r>
              <a:rPr lang="en-US" sz="1800" b="1">
                <a:solidFill>
                  <a:srgbClr val="EBEBEB"/>
                </a:solidFill>
              </a:rPr>
              <a:t>Applications</a:t>
            </a:r>
            <a:endParaRPr lang="en-US" sz="1800" b="1" i="0" kern="1200">
              <a:solidFill>
                <a:srgbClr val="EBEBEB"/>
              </a:solidFill>
              <a:latin typeface="+mj-lt"/>
            </a:endParaRPr>
          </a:p>
        </p:txBody>
      </p:sp>
      <p:sp>
        <p:nvSpPr>
          <p:cNvPr id="85"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86" name="Freeform: Shape 25">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7" name="Rectangle 27">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5" name="Picture 5" descr="Chart&#10;&#10;Description automatically generated">
            <a:extLst>
              <a:ext uri="{FF2B5EF4-FFF2-40B4-BE49-F238E27FC236}">
                <a16:creationId xmlns:a16="http://schemas.microsoft.com/office/drawing/2014/main" id="{C90F8B73-A57E-42BD-A8FC-717CEE63CE3D}"/>
              </a:ext>
            </a:extLst>
          </p:cNvPr>
          <p:cNvPicPr>
            <a:picLocks noChangeAspect="1"/>
          </p:cNvPicPr>
          <p:nvPr/>
        </p:nvPicPr>
        <p:blipFill>
          <a:blip r:embed="rId6"/>
          <a:stretch>
            <a:fillRect/>
          </a:stretch>
        </p:blipFill>
        <p:spPr>
          <a:xfrm>
            <a:off x="643854" y="1189246"/>
            <a:ext cx="6270662" cy="4479043"/>
          </a:xfrm>
          <a:prstGeom prst="rect">
            <a:avLst/>
          </a:prstGeom>
          <a:effectLst/>
        </p:spPr>
      </p:pic>
      <p:sp>
        <p:nvSpPr>
          <p:cNvPr id="3" name="TextBox 2">
            <a:extLst>
              <a:ext uri="{FF2B5EF4-FFF2-40B4-BE49-F238E27FC236}">
                <a16:creationId xmlns:a16="http://schemas.microsoft.com/office/drawing/2014/main" id="{790BD221-65C0-400D-9D77-972C0DFC722F}"/>
              </a:ext>
            </a:extLst>
          </p:cNvPr>
          <p:cNvSpPr txBox="1"/>
          <p:nvPr/>
        </p:nvSpPr>
        <p:spPr>
          <a:xfrm>
            <a:off x="8002044" y="2292263"/>
            <a:ext cx="3922732"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solidFill>
                  <a:schemeClr val="bg1"/>
                </a:solidFill>
              </a:rPr>
              <a:t>Apart from the technology giants such as Apple, Amazon, Google.. IT service companies like TCS, Cognizant, Infosys Limited are the major employer group sponsoring H1B visas.</a:t>
            </a:r>
          </a:p>
          <a:p>
            <a:pPr marL="285750" indent="-285750">
              <a:buFont typeface="Arial"/>
              <a:buChar char="•"/>
            </a:pPr>
            <a:endParaRPr lang="en-US" sz="1600" dirty="0"/>
          </a:p>
          <a:p>
            <a:pPr marL="285750" indent="-285750">
              <a:buFont typeface="Arial"/>
              <a:buChar char="•"/>
            </a:pPr>
            <a:endParaRPr lang="en-US" sz="1600" dirty="0"/>
          </a:p>
        </p:txBody>
      </p:sp>
    </p:spTree>
    <p:extLst>
      <p:ext uri="{BB962C8B-B14F-4D97-AF65-F5344CB8AC3E}">
        <p14:creationId xmlns:p14="http://schemas.microsoft.com/office/powerpoint/2010/main" val="321541396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5" name="Picture 9">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7" name="Oval 11">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8" name="Picture 13">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0" name="Picture 15">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1" name="Rectangle 17">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2" name="Rectangle 19">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510627-A5BF-435F-8056-2AC943A0371B}"/>
              </a:ext>
            </a:extLst>
          </p:cNvPr>
          <p:cNvSpPr>
            <a:spLocks noGrp="1"/>
          </p:cNvSpPr>
          <p:nvPr>
            <p:ph type="title"/>
          </p:nvPr>
        </p:nvSpPr>
        <p:spPr>
          <a:xfrm>
            <a:off x="8077103" y="1315441"/>
            <a:ext cx="3352375" cy="613494"/>
          </a:xfrm>
        </p:spPr>
        <p:txBody>
          <a:bodyPr vert="horz" lIns="91440" tIns="45720" rIns="91440" bIns="45720" rtlCol="0" anchor="b">
            <a:normAutofit/>
          </a:bodyPr>
          <a:lstStyle/>
          <a:p>
            <a:pPr>
              <a:lnSpc>
                <a:spcPct val="90000"/>
              </a:lnSpc>
            </a:pPr>
            <a:r>
              <a:rPr lang="en-US" sz="1800" b="1" i="0" kern="1200" dirty="0">
                <a:solidFill>
                  <a:srgbClr val="EBEBEB"/>
                </a:solidFill>
                <a:latin typeface="+mj-lt"/>
                <a:ea typeface="+mj-ea"/>
                <a:cs typeface="+mj-cs"/>
              </a:rPr>
              <a:t>Common Roles for H1B Visa Application</a:t>
            </a:r>
            <a:endParaRPr lang="en-US" sz="1800" b="1" i="0" kern="1200" dirty="0">
              <a:solidFill>
                <a:srgbClr val="EBEBEB"/>
              </a:solidFill>
              <a:latin typeface="+mj-lt"/>
            </a:endParaRPr>
          </a:p>
        </p:txBody>
      </p:sp>
      <p:sp>
        <p:nvSpPr>
          <p:cNvPr id="22"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dirty="0"/>
          </a:p>
        </p:txBody>
      </p:sp>
      <p:sp useBgFill="1">
        <p:nvSpPr>
          <p:cNvPr id="24" name="Freeform: Shape 23">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3" name="Picture 4" descr="Chart, bar chart&#10;&#10;Description automatically generated">
            <a:extLst>
              <a:ext uri="{FF2B5EF4-FFF2-40B4-BE49-F238E27FC236}">
                <a16:creationId xmlns:a16="http://schemas.microsoft.com/office/drawing/2014/main" id="{A0950A38-447A-489B-81D4-9CD351874EA9}"/>
              </a:ext>
            </a:extLst>
          </p:cNvPr>
          <p:cNvPicPr>
            <a:picLocks noChangeAspect="1"/>
          </p:cNvPicPr>
          <p:nvPr/>
        </p:nvPicPr>
        <p:blipFill>
          <a:blip r:embed="rId6"/>
          <a:stretch>
            <a:fillRect/>
          </a:stretch>
        </p:blipFill>
        <p:spPr>
          <a:xfrm>
            <a:off x="762522" y="1557507"/>
            <a:ext cx="5240181" cy="3742985"/>
          </a:xfrm>
          <a:prstGeom prst="rect">
            <a:avLst/>
          </a:prstGeom>
          <a:effectLst/>
        </p:spPr>
      </p:pic>
      <p:sp>
        <p:nvSpPr>
          <p:cNvPr id="4" name="TextBox 3">
            <a:extLst>
              <a:ext uri="{FF2B5EF4-FFF2-40B4-BE49-F238E27FC236}">
                <a16:creationId xmlns:a16="http://schemas.microsoft.com/office/drawing/2014/main" id="{96BB14EE-3EC7-4717-A91F-B2B6571A7B68}"/>
              </a:ext>
            </a:extLst>
          </p:cNvPr>
          <p:cNvSpPr txBox="1"/>
          <p:nvPr/>
        </p:nvSpPr>
        <p:spPr>
          <a:xfrm>
            <a:off x="8002044" y="2302701"/>
            <a:ext cx="3943609"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solidFill>
                  <a:schemeClr val="bg1"/>
                </a:solidFill>
                <a:ea typeface="+mn-lt"/>
                <a:cs typeface="+mn-lt"/>
              </a:rPr>
              <a:t>H1B Visa applicants in the software industry with the highest number of applications being filed for software engineer or software developer roles. </a:t>
            </a:r>
          </a:p>
          <a:p>
            <a:pPr marL="285750" indent="-285750">
              <a:buFont typeface="Arial"/>
              <a:buChar char="•"/>
            </a:pPr>
            <a:r>
              <a:rPr lang="en-US" sz="1600" dirty="0">
                <a:solidFill>
                  <a:schemeClr val="bg1"/>
                </a:solidFill>
                <a:ea typeface="+mn-lt"/>
                <a:cs typeface="+mn-lt"/>
              </a:rPr>
              <a:t>Applicants for Data Scientist and data engineering roles are comparatively quite less as compared to the core software roles.</a:t>
            </a:r>
            <a:endParaRPr lang="en-US" sz="1600" dirty="0">
              <a:solidFill>
                <a:schemeClr val="bg1"/>
              </a:solidFill>
            </a:endParaRPr>
          </a:p>
        </p:txBody>
      </p:sp>
    </p:spTree>
    <p:extLst>
      <p:ext uri="{BB962C8B-B14F-4D97-AF65-F5344CB8AC3E}">
        <p14:creationId xmlns:p14="http://schemas.microsoft.com/office/powerpoint/2010/main" val="328499285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49" name="Picture 48">
            <a:extLst>
              <a:ext uri="{FF2B5EF4-FFF2-40B4-BE49-F238E27FC236}">
                <a16:creationId xmlns:a16="http://schemas.microsoft.com/office/drawing/2014/main" id="{94DDC893-E5EF-4CDE-B040-BA5B53AADD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51" name="Picture 50">
            <a:extLst>
              <a:ext uri="{FF2B5EF4-FFF2-40B4-BE49-F238E27FC236}">
                <a16:creationId xmlns:a16="http://schemas.microsoft.com/office/drawing/2014/main" id="{85F1A06D-D369-4974-8208-56120C5E7A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3" name="Oval 52">
            <a:extLst>
              <a:ext uri="{FF2B5EF4-FFF2-40B4-BE49-F238E27FC236}">
                <a16:creationId xmlns:a16="http://schemas.microsoft.com/office/drawing/2014/main" id="{DAD27A50-88D7-4E2A-8488-F2879768A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55" name="Picture 54">
            <a:extLst>
              <a:ext uri="{FF2B5EF4-FFF2-40B4-BE49-F238E27FC236}">
                <a16:creationId xmlns:a16="http://schemas.microsoft.com/office/drawing/2014/main" id="{A47C6ACD-2325-48C6-B9F3-C21563A05EA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7" name="Picture 56">
            <a:extLst>
              <a:ext uri="{FF2B5EF4-FFF2-40B4-BE49-F238E27FC236}">
                <a16:creationId xmlns:a16="http://schemas.microsoft.com/office/drawing/2014/main" id="{1081DF83-4F35-4560-87E6-0DE8AAAC33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9" name="Rectangle 58">
            <a:extLst>
              <a:ext uri="{FF2B5EF4-FFF2-40B4-BE49-F238E27FC236}">
                <a16:creationId xmlns:a16="http://schemas.microsoft.com/office/drawing/2014/main" id="{7C704F0F-1CD8-4DC1-AEE9-225958232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5" name="Picture 4" descr="One in a crowd">
            <a:extLst>
              <a:ext uri="{FF2B5EF4-FFF2-40B4-BE49-F238E27FC236}">
                <a16:creationId xmlns:a16="http://schemas.microsoft.com/office/drawing/2014/main" id="{B76450EE-2840-4B42-B9F6-D0C85DF2E1FF}"/>
              </a:ext>
            </a:extLst>
          </p:cNvPr>
          <p:cNvPicPr>
            <a:picLocks noChangeAspect="1"/>
          </p:cNvPicPr>
          <p:nvPr/>
        </p:nvPicPr>
        <p:blipFill rotWithShape="1">
          <a:blip r:embed="rId7">
            <a:alphaModFix/>
          </a:blip>
          <a:srcRect l="15514" r="9557" b="-2"/>
          <a:stretch/>
        </p:blipFill>
        <p:spPr>
          <a:xfrm>
            <a:off x="1295400" y="1295400"/>
            <a:ext cx="5556756" cy="5562136"/>
          </a:xfrm>
          <a:prstGeom prst="rect">
            <a:avLst/>
          </a:prstGeom>
        </p:spPr>
      </p:pic>
      <p:pic>
        <p:nvPicPr>
          <p:cNvPr id="9" name="Picture 10" descr="Chart, funnel chart&#10;&#10;Description automatically generated">
            <a:extLst>
              <a:ext uri="{FF2B5EF4-FFF2-40B4-BE49-F238E27FC236}">
                <a16:creationId xmlns:a16="http://schemas.microsoft.com/office/drawing/2014/main" id="{90356875-F94D-4D15-B6CC-A6548A13CB41}"/>
              </a:ext>
            </a:extLst>
          </p:cNvPr>
          <p:cNvPicPr>
            <a:picLocks noChangeAspect="1"/>
          </p:cNvPicPr>
          <p:nvPr/>
        </p:nvPicPr>
        <p:blipFill rotWithShape="1">
          <a:blip r:embed="rId8">
            <a:duotone>
              <a:prstClr val="black"/>
              <a:schemeClr val="accent5">
                <a:tint val="45000"/>
                <a:satMod val="400000"/>
              </a:schemeClr>
            </a:duotone>
            <a:alphaModFix amt="25000"/>
          </a:blip>
          <a:srcRect t="7781" r="-5" b="13465"/>
          <a:stretch/>
        </p:blipFill>
        <p:spPr>
          <a:xfrm>
            <a:off x="20" y="10"/>
            <a:ext cx="12191980" cy="6857990"/>
          </a:xfrm>
          <a:custGeom>
            <a:avLst/>
            <a:gdLst/>
            <a:ahLst/>
            <a:cxnLst/>
            <a:rect l="l" t="t" r="r" b="b"/>
            <a:pathLst>
              <a:path w="12192000" h="6858000">
                <a:moveTo>
                  <a:pt x="0" y="0"/>
                </a:moveTo>
                <a:lnTo>
                  <a:pt x="12192000" y="0"/>
                </a:lnTo>
                <a:lnTo>
                  <a:pt x="12192000" y="6858000"/>
                </a:lnTo>
                <a:lnTo>
                  <a:pt x="6853652" y="6858000"/>
                </a:lnTo>
                <a:lnTo>
                  <a:pt x="6853652" y="1295399"/>
                </a:lnTo>
                <a:lnTo>
                  <a:pt x="1295399" y="1295399"/>
                </a:lnTo>
                <a:lnTo>
                  <a:pt x="1295399" y="6858000"/>
                </a:lnTo>
                <a:lnTo>
                  <a:pt x="0" y="6858000"/>
                </a:lnTo>
                <a:close/>
              </a:path>
            </a:pathLst>
          </a:custGeom>
        </p:spPr>
      </p:pic>
      <p:sp>
        <p:nvSpPr>
          <p:cNvPr id="61" name="Rectangle 60">
            <a:extLst>
              <a:ext uri="{FF2B5EF4-FFF2-40B4-BE49-F238E27FC236}">
                <a16:creationId xmlns:a16="http://schemas.microsoft.com/office/drawing/2014/main" id="{19216F88-F538-4658-9858-549D84395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926" y="0"/>
            <a:ext cx="4106685"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3" name="Rectangle 62">
            <a:extLst>
              <a:ext uri="{FF2B5EF4-FFF2-40B4-BE49-F238E27FC236}">
                <a16:creationId xmlns:a16="http://schemas.microsoft.com/office/drawing/2014/main" id="{E53C9355-DCAA-4380-A21C-5A5AEE4B2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017086" y="1295400"/>
            <a:ext cx="4108113" cy="5562600"/>
          </a:xfrm>
          <a:prstGeom prst="rect">
            <a:avLst/>
          </a:prstGeom>
          <a:solidFill>
            <a:schemeClr val="bg1">
              <a:alpha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733A0AE-6749-4ABC-B962-F4BAF239A26B}"/>
              </a:ext>
            </a:extLst>
          </p:cNvPr>
          <p:cNvSpPr>
            <a:spLocks noGrp="1"/>
          </p:cNvSpPr>
          <p:nvPr>
            <p:ph type="title"/>
          </p:nvPr>
        </p:nvSpPr>
        <p:spPr>
          <a:xfrm>
            <a:off x="7180281" y="1447800"/>
            <a:ext cx="2800331" cy="3329581"/>
          </a:xfrm>
        </p:spPr>
        <p:txBody>
          <a:bodyPr vert="horz" lIns="91440" tIns="45720" rIns="91440" bIns="45720" rtlCol="0" anchor="b">
            <a:normAutofit/>
          </a:bodyPr>
          <a:lstStyle/>
          <a:p>
            <a:pPr>
              <a:lnSpc>
                <a:spcPct val="90000"/>
              </a:lnSpc>
            </a:pPr>
            <a:r>
              <a:rPr lang="en-US" sz="3000" dirty="0"/>
              <a:t>Median wages for Common roles amongst H1B applicants</a:t>
            </a:r>
          </a:p>
        </p:txBody>
      </p:sp>
    </p:spTree>
    <p:extLst>
      <p:ext uri="{BB962C8B-B14F-4D97-AF65-F5344CB8AC3E}">
        <p14:creationId xmlns:p14="http://schemas.microsoft.com/office/powerpoint/2010/main" val="242386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9" name="Picture 41">
            <a:extLst>
              <a:ext uri="{FF2B5EF4-FFF2-40B4-BE49-F238E27FC236}">
                <a16:creationId xmlns:a16="http://schemas.microsoft.com/office/drawing/2014/main" id="{C9ECDD5C-152A-4CC7-8333-0F367B3A62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0" name="Picture 43">
            <a:extLst>
              <a:ext uri="{FF2B5EF4-FFF2-40B4-BE49-F238E27FC236}">
                <a16:creationId xmlns:a16="http://schemas.microsoft.com/office/drawing/2014/main" id="{7F5C92A3-369B-43F3-BDCE-E560B1B0E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1" name="Oval 45">
            <a:extLst>
              <a:ext uri="{FF2B5EF4-FFF2-40B4-BE49-F238E27FC236}">
                <a16:creationId xmlns:a16="http://schemas.microsoft.com/office/drawing/2014/main" id="{AEBE9F1A-B38D-446E-83AE-14B17CE77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3" name="Picture 47">
            <a:extLst>
              <a:ext uri="{FF2B5EF4-FFF2-40B4-BE49-F238E27FC236}">
                <a16:creationId xmlns:a16="http://schemas.microsoft.com/office/drawing/2014/main" id="{915B5014-A7EC-4BA6-9C83-8840CF81D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5" name="Picture 49">
            <a:extLst>
              <a:ext uri="{FF2B5EF4-FFF2-40B4-BE49-F238E27FC236}">
                <a16:creationId xmlns:a16="http://schemas.microsoft.com/office/drawing/2014/main" id="{022C43AB-86D7-420D-8AD7-DC0A15FDD0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7" name="Rectangle 51">
            <a:extLst>
              <a:ext uri="{FF2B5EF4-FFF2-40B4-BE49-F238E27FC236}">
                <a16:creationId xmlns:a16="http://schemas.microsoft.com/office/drawing/2014/main" id="{5E3EB826-A471-488F-9E8A-D65528A3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9" name="Rectangle 53">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4" descr="Chart, funnel chart&#10;&#10;Description automatically generated">
            <a:extLst>
              <a:ext uri="{FF2B5EF4-FFF2-40B4-BE49-F238E27FC236}">
                <a16:creationId xmlns:a16="http://schemas.microsoft.com/office/drawing/2014/main" id="{F4496F13-5A2A-4C0D-9C8D-C9104BBEF8BD}"/>
              </a:ext>
            </a:extLst>
          </p:cNvPr>
          <p:cNvPicPr>
            <a:picLocks noChangeAspect="1"/>
          </p:cNvPicPr>
          <p:nvPr/>
        </p:nvPicPr>
        <p:blipFill>
          <a:blip r:embed="rId7"/>
          <a:stretch>
            <a:fillRect/>
          </a:stretch>
        </p:blipFill>
        <p:spPr>
          <a:xfrm>
            <a:off x="2357425" y="968052"/>
            <a:ext cx="6672000" cy="4765714"/>
          </a:xfrm>
          <a:prstGeom prst="rect">
            <a:avLst/>
          </a:prstGeom>
        </p:spPr>
      </p:pic>
      <p:sp>
        <p:nvSpPr>
          <p:cNvPr id="51" name="Rectangle 55">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128692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2" name="Picture 1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4" name="Picture 1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5" name="Oval 14">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6" name="Picture 1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7" name="Picture 1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8" name="Rectangle 2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9" name="Rectangle 22">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C12626D-D4E9-4009-8A40-0E4A7A2F6126}"/>
              </a:ext>
            </a:extLst>
          </p:cNvPr>
          <p:cNvSpPr>
            <a:spLocks noGrp="1"/>
          </p:cNvSpPr>
          <p:nvPr>
            <p:ph type="title"/>
          </p:nvPr>
        </p:nvSpPr>
        <p:spPr>
          <a:xfrm>
            <a:off x="8004035" y="1336318"/>
            <a:ext cx="3759470" cy="874453"/>
          </a:xfrm>
        </p:spPr>
        <p:txBody>
          <a:bodyPr vert="horz" lIns="91440" tIns="45720" rIns="91440" bIns="45720" rtlCol="0" anchor="b">
            <a:normAutofit/>
          </a:bodyPr>
          <a:lstStyle/>
          <a:p>
            <a:pPr>
              <a:lnSpc>
                <a:spcPct val="90000"/>
              </a:lnSpc>
            </a:pPr>
            <a:r>
              <a:rPr lang="en-US" sz="1800" b="1" i="0" kern="1200" dirty="0">
                <a:solidFill>
                  <a:srgbClr val="EBEBEB"/>
                </a:solidFill>
                <a:latin typeface="+mj-lt"/>
                <a:ea typeface="+mj-ea"/>
                <a:cs typeface="+mj-cs"/>
              </a:rPr>
              <a:t>Wage Distribution of applicants applying for beginner jobs in the Data Domain</a:t>
            </a:r>
            <a:endParaRPr lang="en-US" sz="1800" b="1" i="0" kern="1200" dirty="0">
              <a:solidFill>
                <a:srgbClr val="EBEBEB"/>
              </a:solidFill>
              <a:latin typeface="+mj-lt"/>
            </a:endParaRPr>
          </a:p>
        </p:txBody>
      </p:sp>
      <p:sp>
        <p:nvSpPr>
          <p:cNvPr id="50"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dirty="0"/>
          </a:p>
        </p:txBody>
      </p:sp>
      <p:sp useBgFill="1">
        <p:nvSpPr>
          <p:cNvPr id="51" name="Freeform: Shape 26">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Rectangle 28">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6" name="Picture 6" descr="Chart, histogram&#10;&#10;Description automatically generated">
            <a:extLst>
              <a:ext uri="{FF2B5EF4-FFF2-40B4-BE49-F238E27FC236}">
                <a16:creationId xmlns:a16="http://schemas.microsoft.com/office/drawing/2014/main" id="{5B9A21D0-65CC-41A6-96FA-44B837898233}"/>
              </a:ext>
            </a:extLst>
          </p:cNvPr>
          <p:cNvPicPr>
            <a:picLocks noChangeAspect="1"/>
          </p:cNvPicPr>
          <p:nvPr/>
        </p:nvPicPr>
        <p:blipFill>
          <a:blip r:embed="rId6"/>
          <a:stretch>
            <a:fillRect/>
          </a:stretch>
        </p:blipFill>
        <p:spPr>
          <a:xfrm>
            <a:off x="142813" y="521781"/>
            <a:ext cx="7293620" cy="4968466"/>
          </a:xfrm>
          <a:prstGeom prst="rect">
            <a:avLst/>
          </a:prstGeom>
          <a:effectLst/>
        </p:spPr>
      </p:pic>
      <p:sp>
        <p:nvSpPr>
          <p:cNvPr id="7" name="TextBox 6">
            <a:extLst>
              <a:ext uri="{FF2B5EF4-FFF2-40B4-BE49-F238E27FC236}">
                <a16:creationId xmlns:a16="http://schemas.microsoft.com/office/drawing/2014/main" id="{3631FD72-9F58-4148-BE86-7391AA461AC7}"/>
              </a:ext>
            </a:extLst>
          </p:cNvPr>
          <p:cNvSpPr txBox="1"/>
          <p:nvPr/>
        </p:nvSpPr>
        <p:spPr>
          <a:xfrm>
            <a:off x="7803715" y="2302701"/>
            <a:ext cx="4267198"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solidFill>
                  <a:schemeClr val="bg1"/>
                </a:solidFill>
                <a:ea typeface="+mn-lt"/>
                <a:cs typeface="+mn-lt"/>
              </a:rPr>
              <a:t>We further analyze salary distribution for different beginner data domain roles in detail. The range of wages for specialized roles such as data scientist or data engineer can vary from as low as 50k to as high as 150k. Majority of wages for these specialized role lie in the region of 80-120k. </a:t>
            </a:r>
          </a:p>
          <a:p>
            <a:pPr marL="285750" indent="-285750">
              <a:buFont typeface="Arial"/>
              <a:buChar char="•"/>
            </a:pPr>
            <a:r>
              <a:rPr lang="en-US" sz="1600" dirty="0">
                <a:solidFill>
                  <a:schemeClr val="bg1"/>
                </a:solidFill>
                <a:ea typeface="+mn-lt"/>
                <a:cs typeface="+mn-lt"/>
              </a:rPr>
              <a:t>In case of data analyst, the story is different, the distribution of the wages is mostly concentrated in the 60-80k region with a few outliers going above a 100k salary. This helps us assert the fact that more applicant with more specialized roles in the data domain get paid more.</a:t>
            </a:r>
            <a:endParaRPr lang="en-US" sz="1600" dirty="0">
              <a:solidFill>
                <a:schemeClr val="bg1"/>
              </a:solidFill>
            </a:endParaRPr>
          </a:p>
        </p:txBody>
      </p:sp>
    </p:spTree>
    <p:extLst>
      <p:ext uri="{BB962C8B-B14F-4D97-AF65-F5344CB8AC3E}">
        <p14:creationId xmlns:p14="http://schemas.microsoft.com/office/powerpoint/2010/main" val="3453221287"/>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 name="Picture 5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53" name="Picture 5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5" name="Oval 54">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57" name="Picture 5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9" name="Picture 5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61" name="Rectangle 6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3" name="Rectangle 62">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1BBBDFA-82B5-45AE-941E-477F726D6244}"/>
              </a:ext>
            </a:extLst>
          </p:cNvPr>
          <p:cNvSpPr txBox="1"/>
          <p:nvPr/>
        </p:nvSpPr>
        <p:spPr>
          <a:xfrm>
            <a:off x="8202363" y="1064921"/>
            <a:ext cx="3352375" cy="1907849"/>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defTabSz="457200"/>
            <a:r>
              <a:rPr lang="en-US" b="1" dirty="0">
                <a:solidFill>
                  <a:schemeClr val="bg1"/>
                </a:solidFill>
                <a:ea typeface="+mn-lt"/>
                <a:cs typeface="+mn-lt"/>
              </a:rPr>
              <a:t>Distribution of Applicants based on the status of their application</a:t>
            </a:r>
          </a:p>
          <a:p>
            <a:pPr defTabSz="457200">
              <a:spcBef>
                <a:spcPct val="0"/>
              </a:spcBef>
              <a:spcAft>
                <a:spcPts val="600"/>
              </a:spcAft>
            </a:pPr>
            <a:endParaRPr lang="en-US" sz="5400" b="0" i="0" kern="1200" dirty="0">
              <a:solidFill>
                <a:srgbClr val="EBEBEB"/>
              </a:solidFill>
              <a:latin typeface="+mj-lt"/>
              <a:ea typeface="+mj-ea"/>
              <a:cs typeface="+mj-cs"/>
            </a:endParaRPr>
          </a:p>
        </p:txBody>
      </p:sp>
      <p:sp>
        <p:nvSpPr>
          <p:cNvPr id="65"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dirty="0"/>
          </a:p>
        </p:txBody>
      </p:sp>
      <p:sp useBgFill="1">
        <p:nvSpPr>
          <p:cNvPr id="67" name="Freeform: Shape 66">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9" name="Rectangle 68">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Picture 4" descr="Chart, pie chart&#10;&#10;Description automatically generated">
            <a:extLst>
              <a:ext uri="{FF2B5EF4-FFF2-40B4-BE49-F238E27FC236}">
                <a16:creationId xmlns:a16="http://schemas.microsoft.com/office/drawing/2014/main" id="{3E6758EA-F3F1-4CA5-8E23-3A939F28A0DC}"/>
              </a:ext>
            </a:extLst>
          </p:cNvPr>
          <p:cNvPicPr>
            <a:picLocks noChangeAspect="1"/>
          </p:cNvPicPr>
          <p:nvPr/>
        </p:nvPicPr>
        <p:blipFill>
          <a:blip r:embed="rId6"/>
          <a:stretch>
            <a:fillRect/>
          </a:stretch>
        </p:blipFill>
        <p:spPr>
          <a:xfrm>
            <a:off x="643854" y="1234036"/>
            <a:ext cx="6270662" cy="4389462"/>
          </a:xfrm>
          <a:prstGeom prst="rect">
            <a:avLst/>
          </a:prstGeom>
          <a:effectLst/>
        </p:spPr>
      </p:pic>
      <p:sp>
        <p:nvSpPr>
          <p:cNvPr id="6" name="TextBox 5">
            <a:extLst>
              <a:ext uri="{FF2B5EF4-FFF2-40B4-BE49-F238E27FC236}">
                <a16:creationId xmlns:a16="http://schemas.microsoft.com/office/drawing/2014/main" id="{9C081BBA-5B8F-48CC-83A1-F536FD8988A7}"/>
              </a:ext>
            </a:extLst>
          </p:cNvPr>
          <p:cNvSpPr txBox="1"/>
          <p:nvPr/>
        </p:nvSpPr>
        <p:spPr>
          <a:xfrm>
            <a:off x="8148181" y="2354893"/>
            <a:ext cx="3672212"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solidFill>
                  <a:schemeClr val="bg1"/>
                </a:solidFill>
              </a:rPr>
              <a:t>The data amongst the selected applicants for H1B 93.9% were approved for further processing, about 3.56% applicants had their visa application certified and withdrawn,</a:t>
            </a:r>
            <a:r>
              <a:rPr lang="en-US" sz="1600" dirty="0">
                <a:solidFill>
                  <a:schemeClr val="bg1"/>
                </a:solidFill>
                <a:ea typeface="+mn-lt"/>
                <a:cs typeface="+mn-lt"/>
              </a:rPr>
              <a:t> </a:t>
            </a:r>
            <a:endParaRPr lang="en-US" dirty="0">
              <a:solidFill>
                <a:schemeClr val="bg1"/>
              </a:solidFill>
              <a:ea typeface="+mn-lt"/>
              <a:cs typeface="+mn-lt"/>
            </a:endParaRPr>
          </a:p>
          <a:p>
            <a:pPr marL="285750" indent="-285750">
              <a:buFont typeface="Arial"/>
              <a:buChar char="•"/>
            </a:pPr>
            <a:r>
              <a:rPr lang="en-US" sz="1600" dirty="0">
                <a:solidFill>
                  <a:schemeClr val="bg1"/>
                </a:solidFill>
                <a:ea typeface="+mn-lt"/>
                <a:cs typeface="+mn-lt"/>
              </a:rPr>
              <a:t>It happens mostly when the employer terminates the job of the applicant and .5 % of the selected applicants were rejected due to certain issues in the applications. </a:t>
            </a:r>
            <a:endParaRPr lang="en-US" dirty="0">
              <a:solidFill>
                <a:schemeClr val="bg1"/>
              </a:solidFill>
              <a:ea typeface="+mn-lt"/>
              <a:cs typeface="+mn-lt"/>
            </a:endParaRPr>
          </a:p>
          <a:p>
            <a:pPr marL="285750" indent="-285750">
              <a:buFont typeface="Arial"/>
              <a:buChar char="•"/>
            </a:pPr>
            <a:r>
              <a:rPr lang="en-US" sz="1600" dirty="0">
                <a:solidFill>
                  <a:schemeClr val="bg1"/>
                </a:solidFill>
                <a:ea typeface="+mn-lt"/>
                <a:cs typeface="+mn-lt"/>
              </a:rPr>
              <a:t>This shows that majority of H1b visa applications are genuine and pass through the scrutiny of the United States government.</a:t>
            </a:r>
            <a:endParaRPr lang="en-US" dirty="0">
              <a:solidFill>
                <a:schemeClr val="bg1"/>
              </a:solidFill>
              <a:ea typeface="+mn-lt"/>
              <a:cs typeface="+mn-lt"/>
            </a:endParaRPr>
          </a:p>
        </p:txBody>
      </p:sp>
    </p:spTree>
    <p:extLst>
      <p:ext uri="{BB962C8B-B14F-4D97-AF65-F5344CB8AC3E}">
        <p14:creationId xmlns:p14="http://schemas.microsoft.com/office/powerpoint/2010/main" val="1042215364"/>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29">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35"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dirty="0"/>
          </a:p>
        </p:txBody>
      </p:sp>
      <p:sp useBgFill="1">
        <p:nvSpPr>
          <p:cNvPr id="37" name="Freeform: Shape 33">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sp>
        <p:nvSpPr>
          <p:cNvPr id="38" name="Rectangle 35">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9" name="Content Placeholder 26">
            <a:extLst>
              <a:ext uri="{FF2B5EF4-FFF2-40B4-BE49-F238E27FC236}">
                <a16:creationId xmlns:a16="http://schemas.microsoft.com/office/drawing/2014/main" id="{F897336D-4E18-46B5-81E5-133E03B4668D}"/>
              </a:ext>
            </a:extLst>
          </p:cNvPr>
          <p:cNvSpPr>
            <a:spLocks noGrp="1"/>
          </p:cNvSpPr>
          <p:nvPr>
            <p:ph idx="1"/>
          </p:nvPr>
        </p:nvSpPr>
        <p:spPr>
          <a:xfrm>
            <a:off x="330705" y="2571344"/>
            <a:ext cx="3421207" cy="2947415"/>
          </a:xfrm>
        </p:spPr>
        <p:txBody>
          <a:bodyPr vert="horz" lIns="91440" tIns="45720" rIns="91440" bIns="45720" rtlCol="0" anchor="t">
            <a:noAutofit/>
          </a:bodyPr>
          <a:lstStyle/>
          <a:p>
            <a:r>
              <a:rPr lang="en-US" sz="1600" dirty="0">
                <a:solidFill>
                  <a:srgbClr val="FFFFFF"/>
                </a:solidFill>
              </a:rPr>
              <a:t>Mostly the denied applications tend to have salaries lower than 100k dollars as shown.</a:t>
            </a:r>
          </a:p>
          <a:p>
            <a:pPr>
              <a:buClr>
                <a:srgbClr val="F7F7F7"/>
              </a:buClr>
            </a:pPr>
            <a:r>
              <a:rPr lang="en-US" sz="1600" dirty="0">
                <a:solidFill>
                  <a:srgbClr val="FFFFFF"/>
                </a:solidFill>
              </a:rPr>
              <a:t>Lower salary is a red flag and applicants with lower salaries might be spurious or not meet the requirements required by the US Government to be applicable for H1B visa status.</a:t>
            </a:r>
          </a:p>
        </p:txBody>
      </p:sp>
      <p:pic>
        <p:nvPicPr>
          <p:cNvPr id="4" name="Picture 4" descr="Graphical user interface, application&#10;&#10;Description automatically generated">
            <a:extLst>
              <a:ext uri="{FF2B5EF4-FFF2-40B4-BE49-F238E27FC236}">
                <a16:creationId xmlns:a16="http://schemas.microsoft.com/office/drawing/2014/main" id="{EAA7B242-E7C2-406A-89FA-8F35B87D91BA}"/>
              </a:ext>
            </a:extLst>
          </p:cNvPr>
          <p:cNvPicPr>
            <a:picLocks noChangeAspect="1"/>
          </p:cNvPicPr>
          <p:nvPr/>
        </p:nvPicPr>
        <p:blipFill>
          <a:blip r:embed="rId2"/>
          <a:stretch>
            <a:fillRect/>
          </a:stretch>
        </p:blipFill>
        <p:spPr>
          <a:xfrm>
            <a:off x="5048451" y="1476492"/>
            <a:ext cx="6495847" cy="4514614"/>
          </a:xfrm>
          <a:prstGeom prst="rect">
            <a:avLst/>
          </a:prstGeom>
          <a:effectLst/>
        </p:spPr>
      </p:pic>
      <p:sp>
        <p:nvSpPr>
          <p:cNvPr id="5" name="TextBox 4">
            <a:extLst>
              <a:ext uri="{FF2B5EF4-FFF2-40B4-BE49-F238E27FC236}">
                <a16:creationId xmlns:a16="http://schemas.microsoft.com/office/drawing/2014/main" id="{5B33154B-5FE5-4F44-AE44-150BE27C6D86}"/>
              </a:ext>
            </a:extLst>
          </p:cNvPr>
          <p:cNvSpPr txBox="1"/>
          <p:nvPr/>
        </p:nvSpPr>
        <p:spPr>
          <a:xfrm>
            <a:off x="434236" y="1133605"/>
            <a:ext cx="360958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EBEBEB"/>
                </a:solidFill>
                <a:ea typeface="+mn-lt"/>
                <a:cs typeface="+mn-lt"/>
              </a:rPr>
              <a:t>Distribution of Wages for Applicants whose Application were later changed</a:t>
            </a:r>
            <a:endParaRPr lang="en-US" b="1" dirty="0"/>
          </a:p>
        </p:txBody>
      </p:sp>
    </p:spTree>
    <p:extLst>
      <p:ext uri="{BB962C8B-B14F-4D97-AF65-F5344CB8AC3E}">
        <p14:creationId xmlns:p14="http://schemas.microsoft.com/office/powerpoint/2010/main" val="1314657530"/>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2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0" name="Picture 2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2" name="Oval 24">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4" name="Picture 2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6" name="Picture 2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1" name="Rectangle 3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3" name="Rectangle 32">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6484F4-F404-4E29-A411-1D09DDF46241}"/>
              </a:ext>
            </a:extLst>
          </p:cNvPr>
          <p:cNvSpPr>
            <a:spLocks noGrp="1"/>
          </p:cNvSpPr>
          <p:nvPr>
            <p:ph type="title"/>
          </p:nvPr>
        </p:nvSpPr>
        <p:spPr>
          <a:xfrm>
            <a:off x="8022921" y="1558495"/>
            <a:ext cx="3352375" cy="780507"/>
          </a:xfrm>
        </p:spPr>
        <p:txBody>
          <a:bodyPr vert="horz" lIns="91440" tIns="45720" rIns="91440" bIns="45720" rtlCol="0" anchor="b">
            <a:noAutofit/>
          </a:bodyPr>
          <a:lstStyle/>
          <a:p>
            <a:pPr>
              <a:lnSpc>
                <a:spcPct val="90000"/>
              </a:lnSpc>
            </a:pPr>
            <a:r>
              <a:rPr lang="en-US" sz="2000" b="1" i="0" kern="1200" dirty="0">
                <a:solidFill>
                  <a:srgbClr val="EBEBEB"/>
                </a:solidFill>
                <a:latin typeface="+mj-lt"/>
                <a:ea typeface="+mj-ea"/>
                <a:cs typeface="+mj-cs"/>
              </a:rPr>
              <a:t>Distribution of wages amongst the states with the highest number of H1B fillings</a:t>
            </a:r>
            <a:r>
              <a:rPr lang="en-US" sz="2000" b="1" dirty="0">
                <a:solidFill>
                  <a:srgbClr val="EBEBEB"/>
                </a:solidFill>
              </a:rPr>
              <a:t> </a:t>
            </a:r>
            <a:endParaRPr lang="en-US" sz="2000" b="1" i="0" kern="1200" dirty="0">
              <a:solidFill>
                <a:srgbClr val="EBEBEB"/>
              </a:solidFill>
              <a:latin typeface="+mj-lt"/>
              <a:ea typeface="+mj-ea"/>
              <a:cs typeface="+mj-cs"/>
            </a:endParaRPr>
          </a:p>
        </p:txBody>
      </p:sp>
      <p:sp>
        <p:nvSpPr>
          <p:cNvPr id="35"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dirty="0"/>
          </a:p>
        </p:txBody>
      </p:sp>
      <p:sp useBgFill="1">
        <p:nvSpPr>
          <p:cNvPr id="37" name="Freeform: Shape 36">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Rectangle 38">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6" name="Picture 6" descr="Chart&#10;&#10;Description automatically generated">
            <a:extLst>
              <a:ext uri="{FF2B5EF4-FFF2-40B4-BE49-F238E27FC236}">
                <a16:creationId xmlns:a16="http://schemas.microsoft.com/office/drawing/2014/main" id="{02B7F7DE-DEFC-4BF5-8A1E-2061F415AF33}"/>
              </a:ext>
            </a:extLst>
          </p:cNvPr>
          <p:cNvPicPr>
            <a:picLocks noChangeAspect="1"/>
          </p:cNvPicPr>
          <p:nvPr/>
        </p:nvPicPr>
        <p:blipFill>
          <a:blip r:embed="rId6"/>
          <a:stretch>
            <a:fillRect/>
          </a:stretch>
        </p:blipFill>
        <p:spPr>
          <a:xfrm>
            <a:off x="643854" y="1189246"/>
            <a:ext cx="6270662" cy="4479043"/>
          </a:xfrm>
          <a:prstGeom prst="rect">
            <a:avLst/>
          </a:prstGeom>
          <a:effectLst/>
        </p:spPr>
      </p:pic>
      <p:sp>
        <p:nvSpPr>
          <p:cNvPr id="28" name="TextBox 27">
            <a:extLst>
              <a:ext uri="{FF2B5EF4-FFF2-40B4-BE49-F238E27FC236}">
                <a16:creationId xmlns:a16="http://schemas.microsoft.com/office/drawing/2014/main" id="{5E2EEC5D-477C-4E87-9D8E-2A481A37FE0C}"/>
              </a:ext>
            </a:extLst>
          </p:cNvPr>
          <p:cNvSpPr txBox="1"/>
          <p:nvPr/>
        </p:nvSpPr>
        <p:spPr>
          <a:xfrm>
            <a:off x="8022921" y="2375770"/>
            <a:ext cx="3839226"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solidFill>
                  <a:schemeClr val="bg1"/>
                </a:solidFill>
                <a:ea typeface="+mn-lt"/>
                <a:cs typeface="+mn-lt"/>
              </a:rPr>
              <a:t>The state of California has one the highest median salary amongst all states. The median salary of applicants applying from California is north of 100k dollars. </a:t>
            </a:r>
          </a:p>
          <a:p>
            <a:pPr marL="285750" indent="-285750">
              <a:buFont typeface="Arial"/>
              <a:buChar char="•"/>
            </a:pPr>
            <a:r>
              <a:rPr lang="en-US" sz="1600" dirty="0">
                <a:solidFill>
                  <a:schemeClr val="bg1"/>
                </a:solidFill>
                <a:ea typeface="+mn-lt"/>
                <a:cs typeface="+mn-lt"/>
              </a:rPr>
              <a:t>The same is the case with the state with second highest median salary i.e. Washington. </a:t>
            </a:r>
          </a:p>
          <a:p>
            <a:pPr marL="285750" indent="-285750">
              <a:buFont typeface="Arial"/>
              <a:buChar char="•"/>
            </a:pPr>
            <a:r>
              <a:rPr lang="en-US" sz="1600" dirty="0">
                <a:solidFill>
                  <a:schemeClr val="bg1"/>
                </a:solidFill>
                <a:ea typeface="+mn-lt"/>
                <a:cs typeface="+mn-lt"/>
              </a:rPr>
              <a:t>The state with the least salary amongst state with highest number of filings is Texas with a median salary in the range of 80-90k.</a:t>
            </a:r>
            <a:endParaRPr lang="en-US" sz="1600" dirty="0">
              <a:solidFill>
                <a:schemeClr val="bg1"/>
              </a:solidFill>
            </a:endParaRPr>
          </a:p>
        </p:txBody>
      </p:sp>
      <p:sp>
        <p:nvSpPr>
          <p:cNvPr id="5" name="Rectangle 4">
            <a:extLst>
              <a:ext uri="{FF2B5EF4-FFF2-40B4-BE49-F238E27FC236}">
                <a16:creationId xmlns:a16="http://schemas.microsoft.com/office/drawing/2014/main" id="{4629EA92-1904-492A-A0A1-CE56D4C672F9}"/>
              </a:ext>
            </a:extLst>
          </p:cNvPr>
          <p:cNvSpPr/>
          <p:nvPr/>
        </p:nvSpPr>
        <p:spPr>
          <a:xfrm>
            <a:off x="643854" y="2564090"/>
            <a:ext cx="308253" cy="1630837"/>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states</a:t>
            </a:r>
          </a:p>
        </p:txBody>
      </p:sp>
    </p:spTree>
    <p:extLst>
      <p:ext uri="{BB962C8B-B14F-4D97-AF65-F5344CB8AC3E}">
        <p14:creationId xmlns:p14="http://schemas.microsoft.com/office/powerpoint/2010/main" val="2619068823"/>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0">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16"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dirty="0"/>
          </a:p>
        </p:txBody>
      </p:sp>
      <p:sp useBgFill="1">
        <p:nvSpPr>
          <p:cNvPr id="18" name="Freeform: Shape 14">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sp>
        <p:nvSpPr>
          <p:cNvPr id="20" name="Rectangle 16">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Content Placeholder 7">
            <a:extLst>
              <a:ext uri="{FF2B5EF4-FFF2-40B4-BE49-F238E27FC236}">
                <a16:creationId xmlns:a16="http://schemas.microsoft.com/office/drawing/2014/main" id="{A1821354-6A85-4016-825A-6AF46A0F0360}"/>
              </a:ext>
            </a:extLst>
          </p:cNvPr>
          <p:cNvSpPr>
            <a:spLocks noGrp="1"/>
          </p:cNvSpPr>
          <p:nvPr>
            <p:ph idx="1"/>
          </p:nvPr>
        </p:nvSpPr>
        <p:spPr>
          <a:xfrm>
            <a:off x="320266" y="1800521"/>
            <a:ext cx="3108057" cy="3384212"/>
          </a:xfrm>
        </p:spPr>
        <p:txBody>
          <a:bodyPr vert="horz" lIns="91440" tIns="45720" rIns="91440" bIns="45720" rtlCol="0" anchor="t">
            <a:noAutofit/>
          </a:bodyPr>
          <a:lstStyle/>
          <a:p>
            <a:pPr marL="0" indent="0">
              <a:buNone/>
            </a:pPr>
            <a:endParaRPr lang="en-US" sz="1600" dirty="0">
              <a:solidFill>
                <a:srgbClr val="FFFFFF"/>
              </a:solidFill>
            </a:endParaRPr>
          </a:p>
          <a:p>
            <a:pPr>
              <a:buClr>
                <a:srgbClr val="F7F7F7"/>
              </a:buClr>
            </a:pPr>
            <a:r>
              <a:rPr lang="en-US" sz="1600" dirty="0">
                <a:solidFill>
                  <a:schemeClr val="bg1"/>
                </a:solidFill>
                <a:ea typeface="+mj-lt"/>
                <a:cs typeface="+mj-lt"/>
              </a:rPr>
              <a:t>As evident, the coastal states account for most number of applications such as CA, WA, NY</a:t>
            </a:r>
            <a:endParaRPr lang="en-US" sz="1600" dirty="0">
              <a:solidFill>
                <a:srgbClr val="FFFFFF"/>
              </a:solidFill>
            </a:endParaRPr>
          </a:p>
          <a:p>
            <a:pPr>
              <a:buClr>
                <a:srgbClr val="F7F7F7"/>
              </a:buClr>
            </a:pPr>
            <a:r>
              <a:rPr lang="en-US" sz="1600" dirty="0">
                <a:solidFill>
                  <a:srgbClr val="FFFFFF"/>
                </a:solidFill>
              </a:rPr>
              <a:t>Texas is a state with highest number of H1B visa applications in the south, which is not on either of the coasts.</a:t>
            </a:r>
          </a:p>
          <a:p>
            <a:pPr>
              <a:buClr>
                <a:srgbClr val="F7F7F7"/>
              </a:buClr>
            </a:pPr>
            <a:r>
              <a:rPr lang="en-US" sz="1600" dirty="0">
                <a:solidFill>
                  <a:schemeClr val="bg1"/>
                </a:solidFill>
                <a:ea typeface="+mj-lt"/>
                <a:cs typeface="+mj-lt"/>
              </a:rPr>
              <a:t>H1B visas are generally based on the demand for employees in a particular geographic area.</a:t>
            </a:r>
          </a:p>
        </p:txBody>
      </p:sp>
      <p:pic>
        <p:nvPicPr>
          <p:cNvPr id="4" name="Picture 4" descr="Map&#10;&#10;Description automatically generated">
            <a:extLst>
              <a:ext uri="{FF2B5EF4-FFF2-40B4-BE49-F238E27FC236}">
                <a16:creationId xmlns:a16="http://schemas.microsoft.com/office/drawing/2014/main" id="{69146D33-3101-41EA-B83B-5CAA848B76B0}"/>
              </a:ext>
            </a:extLst>
          </p:cNvPr>
          <p:cNvPicPr>
            <a:picLocks noChangeAspect="1"/>
          </p:cNvPicPr>
          <p:nvPr/>
        </p:nvPicPr>
        <p:blipFill>
          <a:blip r:embed="rId2"/>
          <a:stretch>
            <a:fillRect/>
          </a:stretch>
        </p:blipFill>
        <p:spPr>
          <a:xfrm>
            <a:off x="4380397" y="1444083"/>
            <a:ext cx="7560558" cy="4537680"/>
          </a:xfrm>
          <a:prstGeom prst="rect">
            <a:avLst/>
          </a:prstGeom>
          <a:effectLst/>
        </p:spPr>
      </p:pic>
      <p:sp>
        <p:nvSpPr>
          <p:cNvPr id="5" name="TextBox 4">
            <a:extLst>
              <a:ext uri="{FF2B5EF4-FFF2-40B4-BE49-F238E27FC236}">
                <a16:creationId xmlns:a16="http://schemas.microsoft.com/office/drawing/2014/main" id="{189EBC73-890E-4CC6-A312-0401AC536953}"/>
              </a:ext>
            </a:extLst>
          </p:cNvPr>
          <p:cNvSpPr txBox="1"/>
          <p:nvPr/>
        </p:nvSpPr>
        <p:spPr>
          <a:xfrm>
            <a:off x="319414" y="1352811"/>
            <a:ext cx="367221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EBEBEB"/>
                </a:solidFill>
              </a:rPr>
              <a:t>H1B</a:t>
            </a:r>
            <a:r>
              <a:rPr lang="en-US" b="1" dirty="0">
                <a:solidFill>
                  <a:srgbClr val="EBEBEB"/>
                </a:solidFill>
                <a:ea typeface="+mn-lt"/>
                <a:cs typeface="+mn-lt"/>
              </a:rPr>
              <a:t> Applicants Geographical Concentration</a:t>
            </a:r>
            <a:endParaRPr lang="en-US" b="1" dirty="0">
              <a:ea typeface="+mn-lt"/>
              <a:cs typeface="+mn-lt"/>
            </a:endParaRPr>
          </a:p>
          <a:p>
            <a:pPr algn="l"/>
            <a:endParaRPr lang="en-US" dirty="0"/>
          </a:p>
        </p:txBody>
      </p:sp>
    </p:spTree>
    <p:extLst>
      <p:ext uri="{BB962C8B-B14F-4D97-AF65-F5344CB8AC3E}">
        <p14:creationId xmlns:p14="http://schemas.microsoft.com/office/powerpoint/2010/main" val="637421478"/>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0B6AA8-5D35-44DA-A005-09684DDD67D7}"/>
              </a:ext>
            </a:extLst>
          </p:cNvPr>
          <p:cNvSpPr>
            <a:spLocks noGrp="1"/>
          </p:cNvSpPr>
          <p:nvPr>
            <p:ph type="title"/>
          </p:nvPr>
        </p:nvSpPr>
        <p:spPr>
          <a:xfrm>
            <a:off x="648931" y="629266"/>
            <a:ext cx="4166510" cy="1622321"/>
          </a:xfrm>
        </p:spPr>
        <p:txBody>
          <a:bodyPr vert="horz" lIns="91440" tIns="45720" rIns="91440" bIns="45720" rtlCol="0">
            <a:normAutofit/>
          </a:bodyPr>
          <a:lstStyle/>
          <a:p>
            <a:pPr>
              <a:lnSpc>
                <a:spcPct val="90000"/>
              </a:lnSpc>
            </a:pPr>
            <a:r>
              <a:rPr lang="en-US" sz="2300" b="1" dirty="0">
                <a:solidFill>
                  <a:srgbClr val="EBEBEB"/>
                </a:solidFill>
              </a:rPr>
              <a:t>Distribution of yearly wage for Data Engineering, Data Scientist and Software Engineering</a:t>
            </a:r>
            <a:endParaRPr lang="en-US" sz="2300" b="1" i="0" kern="1200" dirty="0">
              <a:solidFill>
                <a:srgbClr val="EBEBEB"/>
              </a:solidFill>
              <a:latin typeface="+mj-lt"/>
            </a:endParaRPr>
          </a:p>
        </p:txBody>
      </p:sp>
      <p:sp>
        <p:nvSpPr>
          <p:cNvPr id="5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dirty="0"/>
          </a:p>
        </p:txBody>
      </p:sp>
      <p:sp useBgFill="1">
        <p:nvSpPr>
          <p:cNvPr id="53" name="Freeform: Shape 5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pic>
        <p:nvPicPr>
          <p:cNvPr id="6" name="Picture 6" descr="A picture containing logo&#10;&#10;Description automatically generated">
            <a:extLst>
              <a:ext uri="{FF2B5EF4-FFF2-40B4-BE49-F238E27FC236}">
                <a16:creationId xmlns:a16="http://schemas.microsoft.com/office/drawing/2014/main" id="{4D5C19D3-13F6-4E57-852A-A96796E3E3EE}"/>
              </a:ext>
            </a:extLst>
          </p:cNvPr>
          <p:cNvPicPr>
            <a:picLocks noChangeAspect="1"/>
          </p:cNvPicPr>
          <p:nvPr/>
        </p:nvPicPr>
        <p:blipFill>
          <a:blip r:embed="rId2"/>
          <a:stretch>
            <a:fillRect/>
          </a:stretch>
        </p:blipFill>
        <p:spPr>
          <a:xfrm>
            <a:off x="5413272" y="1652025"/>
            <a:ext cx="6780849" cy="3940026"/>
          </a:xfrm>
          <a:prstGeom prst="rect">
            <a:avLst/>
          </a:prstGeom>
          <a:effectLst/>
        </p:spPr>
      </p:pic>
      <p:sp>
        <p:nvSpPr>
          <p:cNvPr id="55" name="Rectangle 5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TextBox 2">
            <a:extLst>
              <a:ext uri="{FF2B5EF4-FFF2-40B4-BE49-F238E27FC236}">
                <a16:creationId xmlns:a16="http://schemas.microsoft.com/office/drawing/2014/main" id="{BF39E019-D826-43A6-9A13-411EFE5332D4}"/>
              </a:ext>
            </a:extLst>
          </p:cNvPr>
          <p:cNvSpPr txBox="1"/>
          <p:nvPr/>
        </p:nvSpPr>
        <p:spPr>
          <a:xfrm>
            <a:off x="648931" y="2366128"/>
            <a:ext cx="3489436" cy="3970318"/>
          </a:xfrm>
          <a:prstGeom prst="rect">
            <a:avLst/>
          </a:prstGeom>
          <a:noFill/>
        </p:spPr>
        <p:txBody>
          <a:bodyPr wrap="square" rtlCol="0">
            <a:spAutoFit/>
          </a:bodyPr>
          <a:lstStyle/>
          <a:p>
            <a:pPr marL="285750" indent="-285750">
              <a:buFont typeface="Wingdings" panose="05000000000000000000" pitchFamily="2" charset="2"/>
              <a:buChar char="Ø"/>
            </a:pPr>
            <a:r>
              <a:rPr lang="en-US" dirty="0">
                <a:solidFill>
                  <a:schemeClr val="bg1"/>
                </a:solidFill>
              </a:rPr>
              <a:t>As evident from the graphs, states such as CA, TX, WA and NY are the highest paying states for the above stated roles.</a:t>
            </a:r>
          </a:p>
          <a:p>
            <a:pPr marL="285750" indent="-285750">
              <a:buFont typeface="Wingdings" panose="05000000000000000000" pitchFamily="2" charset="2"/>
              <a:buChar char="Ø"/>
            </a:pPr>
            <a:r>
              <a:rPr lang="en-US" dirty="0">
                <a:solidFill>
                  <a:schemeClr val="bg1"/>
                </a:solidFill>
              </a:rPr>
              <a:t>The median salary in these states range from 120k in CA to around 100k in TX.</a:t>
            </a:r>
          </a:p>
          <a:p>
            <a:pPr marL="285750" indent="-285750">
              <a:buFont typeface="Wingdings" panose="05000000000000000000" pitchFamily="2" charset="2"/>
              <a:buChar char="Ø"/>
            </a:pPr>
            <a:r>
              <a:rPr lang="en-US" dirty="0">
                <a:solidFill>
                  <a:schemeClr val="bg1"/>
                </a:solidFill>
              </a:rPr>
              <a:t>Some states such as MT and WY are outliers in this case as there were no applications filed for H1-B visas for the above three job roles.</a:t>
            </a:r>
          </a:p>
        </p:txBody>
      </p:sp>
    </p:spTree>
    <p:extLst>
      <p:ext uri="{BB962C8B-B14F-4D97-AF65-F5344CB8AC3E}">
        <p14:creationId xmlns:p14="http://schemas.microsoft.com/office/powerpoint/2010/main" val="187361561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9ECDD5C-152A-4CC7-8333-0F367B3A62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F5C92A3-369B-43F3-BDCE-E560B1B0E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AEBE9F1A-B38D-446E-83AE-14B17CE77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915B5014-A7EC-4BA6-9C83-8840CF81D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022C43AB-86D7-420D-8AD7-DC0A15FDD0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5E3EB826-A471-488F-9E8A-D65528A3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4" descr="Qr code&#10;&#10;Description automatically generated">
            <a:extLst>
              <a:ext uri="{FF2B5EF4-FFF2-40B4-BE49-F238E27FC236}">
                <a16:creationId xmlns:a16="http://schemas.microsoft.com/office/drawing/2014/main" id="{8949420F-2F28-4FD5-B706-FAFF21845E93}"/>
              </a:ext>
            </a:extLst>
          </p:cNvPr>
          <p:cNvPicPr>
            <a:picLocks noChangeAspect="1"/>
          </p:cNvPicPr>
          <p:nvPr/>
        </p:nvPicPr>
        <p:blipFill>
          <a:blip r:embed="rId7"/>
          <a:stretch>
            <a:fillRect/>
          </a:stretch>
        </p:blipFill>
        <p:spPr>
          <a:xfrm>
            <a:off x="3313711" y="643467"/>
            <a:ext cx="5571066" cy="5571066"/>
          </a:xfrm>
          <a:prstGeom prst="rect">
            <a:avLst/>
          </a:prstGeom>
        </p:spPr>
      </p:pic>
      <p:sp>
        <p:nvSpPr>
          <p:cNvPr id="23" name="Rectangle 22">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5544186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office theme</Template>
  <TotalTime>245</TotalTime>
  <Words>689</Words>
  <Application>Microsoft Office PowerPoint</Application>
  <PresentationFormat>Widescreen</PresentationFormat>
  <Paragraphs>40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Wingdings</vt:lpstr>
      <vt:lpstr>Wingdings 3</vt:lpstr>
      <vt:lpstr>Ion</vt:lpstr>
      <vt:lpstr>H1B Visa Application Analysis</vt:lpstr>
      <vt:lpstr>About H1B</vt:lpstr>
      <vt:lpstr>Data Processing and Cleaning</vt:lpstr>
      <vt:lpstr>Employers with highest number of H1B Applications</vt:lpstr>
      <vt:lpstr>Common Roles for H1B Visa Application</vt:lpstr>
      <vt:lpstr>Median wages for Common roles amongst H1B applicants</vt:lpstr>
      <vt:lpstr>PowerPoint Presentation</vt:lpstr>
      <vt:lpstr>Wage Distribution of applicants applying for beginner jobs in the Data Domain</vt:lpstr>
      <vt:lpstr>PowerPoint Presentation</vt:lpstr>
      <vt:lpstr>PowerPoint Presentation</vt:lpstr>
      <vt:lpstr>Distribution of wages amongst the states with the highest number of H1B fillings </vt:lpstr>
      <vt:lpstr>PowerPoint Presentation</vt:lpstr>
      <vt:lpstr>Distribution of yearly wage for Data Engineering, Data Scientist and Software Engineering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Manasvi Mittal</cp:lastModifiedBy>
  <cp:revision>70</cp:revision>
  <dcterms:created xsi:type="dcterms:W3CDTF">2021-10-30T21:45:00Z</dcterms:created>
  <dcterms:modified xsi:type="dcterms:W3CDTF">2021-11-02T01:02:11Z</dcterms:modified>
</cp:coreProperties>
</file>